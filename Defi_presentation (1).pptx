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entury Gothic Paneuropean Bold" charset="1" panose="020B0702020202020204"/>
      <p:regular r:id="rId16"/>
    </p:embeddedFont>
    <p:embeddedFont>
      <p:font typeface="Century Gothic Paneuropean" charset="1" panose="020B05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02848" y="-65791"/>
            <a:ext cx="1485700" cy="2861998"/>
          </a:xfrm>
          <a:custGeom>
            <a:avLst/>
            <a:gdLst/>
            <a:ahLst/>
            <a:cxnLst/>
            <a:rect r="r" b="b" t="t" l="l"/>
            <a:pathLst>
              <a:path h="2861998" w="1485700">
                <a:moveTo>
                  <a:pt x="0" y="0"/>
                </a:moveTo>
                <a:lnTo>
                  <a:pt x="1485700" y="0"/>
                </a:lnTo>
                <a:lnTo>
                  <a:pt x="1485700" y="2861999"/>
                </a:lnTo>
                <a:lnTo>
                  <a:pt x="0" y="2861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6" t="-7626" r="0" b="-508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31352" y="0"/>
            <a:ext cx="2796208" cy="2796208"/>
          </a:xfrm>
          <a:custGeom>
            <a:avLst/>
            <a:gdLst/>
            <a:ahLst/>
            <a:cxnLst/>
            <a:rect r="r" b="b" t="t" l="l"/>
            <a:pathLst>
              <a:path h="2796208" w="2796208">
                <a:moveTo>
                  <a:pt x="0" y="0"/>
                </a:moveTo>
                <a:lnTo>
                  <a:pt x="2796207" y="0"/>
                </a:lnTo>
                <a:lnTo>
                  <a:pt x="2796207" y="2796208"/>
                </a:lnTo>
                <a:lnTo>
                  <a:pt x="0" y="2796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02848" y="2779677"/>
            <a:ext cx="14255217" cy="36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1"/>
              </a:lnSpc>
            </a:pPr>
            <a:r>
              <a:rPr lang="en-US" b="true" sz="6865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DEFI LIQUIDITY CRISES: WHEN MARKETS FREEZE</a:t>
            </a:r>
          </a:p>
          <a:p>
            <a:pPr algn="ctr">
              <a:lnSpc>
                <a:spcPts val="9611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3126969" y="5614884"/>
            <a:ext cx="14472963" cy="2411548"/>
            <a:chOff x="0" y="0"/>
            <a:chExt cx="19297284" cy="321539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283" y="-76200"/>
              <a:ext cx="16953768" cy="826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22"/>
                </a:lnSpc>
              </a:pPr>
              <a:r>
                <a:rPr lang="en-US" sz="3730" b="true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Course</a:t>
              </a:r>
              <a:r>
                <a:rPr lang="en-US" sz="373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: Decentralized Finance   (HBCC801)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343516" y="760813"/>
              <a:ext cx="16953768" cy="719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2"/>
                </a:lnSpc>
              </a:pPr>
              <a:r>
                <a:rPr lang="en-US" sz="323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(Continous Assesment 1)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53114"/>
              <a:ext cx="16953768" cy="794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true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Academic Year</a:t>
              </a:r>
              <a:r>
                <a:rPr lang="en-US" sz="363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: 2025-26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420768"/>
              <a:ext cx="16953768" cy="794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true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Name: </a:t>
              </a:r>
              <a:r>
                <a:rPr lang="en-US" sz="363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Sanika Jadhav           (D16AD-B/20)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69057" y="759107"/>
            <a:ext cx="14028129" cy="108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b="true" sz="6365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CASE STUDY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75411" y="442522"/>
            <a:ext cx="8537178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2457" y="3311148"/>
            <a:ext cx="11651056" cy="174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164" indent="-360582" lvl="1">
              <a:lnSpc>
                <a:spcPts val="4676"/>
              </a:lnSpc>
              <a:buAutoNum type="arabicPeriod" startAt="1"/>
            </a:pP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refers to how easily assets can be traded or withdrawn without major price changes. </a:t>
            </a:r>
          </a:p>
          <a:p>
            <a:pPr algn="l" marL="721164" indent="-360582" lvl="1">
              <a:lnSpc>
                <a:spcPts val="4676"/>
              </a:lnSpc>
              <a:buAutoNum type="arabicPeriod" startAt="1"/>
            </a:pP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DeFi, liquidity is provided by users, not institutions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5804" y="2473667"/>
            <a:ext cx="12776558" cy="124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545454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What Is Liquidity in DeFi?</a:t>
            </a:r>
          </a:p>
          <a:p>
            <a:pPr algn="ctr">
              <a:lnSpc>
                <a:spcPts val="495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04" y="5309329"/>
            <a:ext cx="14672418" cy="124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545454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Indicators of Liquidity in DeFi:</a:t>
            </a:r>
          </a:p>
          <a:p>
            <a:pPr algn="ctr">
              <a:lnSpc>
                <a:spcPts val="495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911639" y="6108645"/>
            <a:ext cx="13336222" cy="410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Pool Depth</a:t>
            </a: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: Amount of capital available in liquidity pools for trades and swaps</a:t>
            </a:r>
          </a:p>
          <a:p>
            <a:pPr algn="l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Trading Volume</a:t>
            </a: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: Frequency and size of transactions occurring on the platform</a:t>
            </a:r>
          </a:p>
          <a:p>
            <a:pPr algn="l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Slippage</a:t>
            </a: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Price impact of executing trades—lower slippage means better liquidity</a:t>
            </a:r>
          </a:p>
          <a:p>
            <a:pPr algn="l">
              <a:lnSpc>
                <a:spcPts val="467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457536" y="3085173"/>
            <a:ext cx="13999985" cy="6098818"/>
          </a:xfrm>
          <a:custGeom>
            <a:avLst/>
            <a:gdLst/>
            <a:ahLst/>
            <a:cxnLst/>
            <a:rect r="r" b="b" t="t" l="l"/>
            <a:pathLst>
              <a:path h="6098818" w="13999985">
                <a:moveTo>
                  <a:pt x="0" y="0"/>
                </a:moveTo>
                <a:lnTo>
                  <a:pt x="13999985" y="0"/>
                </a:lnTo>
                <a:lnTo>
                  <a:pt x="13999985" y="6098818"/>
                </a:lnTo>
                <a:lnTo>
                  <a:pt x="0" y="609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23" r="0" b="-2223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78805" y="848833"/>
            <a:ext cx="16225611" cy="2983963"/>
            <a:chOff x="0" y="0"/>
            <a:chExt cx="21634148" cy="397861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21634148" cy="76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6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75332" y="973680"/>
              <a:ext cx="19663957" cy="300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9574" indent="-349787" lvl="1">
                <a:lnSpc>
                  <a:spcPts val="4536"/>
                </a:lnSpc>
                <a:buFont typeface="Arial"/>
                <a:buChar char="•"/>
              </a:pPr>
              <a:r>
                <a:rPr lang="en-US" b="true" sz="3240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Liquidity Pools (AMMs)</a:t>
              </a:r>
              <a:r>
                <a:rPr lang="en-US" sz="324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: Users deposit token pairs into smart contracts, enabling continuous token swaps without intermediaries.</a:t>
              </a:r>
            </a:p>
            <a:p>
              <a:pPr algn="l">
                <a:lnSpc>
                  <a:spcPts val="4536"/>
                </a:lnSpc>
              </a:pPr>
            </a:p>
            <a:p>
              <a:pPr algn="ctr">
                <a:lnSpc>
                  <a:spcPts val="453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69057" y="49707"/>
            <a:ext cx="14209708" cy="11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b="true" sz="68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LIQUIDITY P00LS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9146" y="544928"/>
            <a:ext cx="14209708" cy="11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b="true" sz="68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WHAT IS A DEFI LIQUIDITY CRISIS?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19999" y="2289674"/>
            <a:ext cx="14663884" cy="292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 DeF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liquidity crisis occurs when </a:t>
            </a:r>
            <a:r>
              <a:rPr lang="en-US" b="true" sz="3340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liquidity vanishes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suddenly, often due to panic, extreme volatility, or design flaws. Unlike traditional finance, DeFi crises unfold rapidly and automatically, driven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smart contracts.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919999" y="4760659"/>
            <a:ext cx="15249145" cy="410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6"/>
              </a:lnSpc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What</a:t>
            </a: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Happens During a Liquidity Crisis?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providers rush to withdraw funds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Lending pools dry up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Stablecoins or collateral assets lose value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Users are unable to trade, withdraw, or borrow assets efficiently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Results in high slippage, frozen withdrawals, and forced liquidations</a:t>
            </a:r>
          </a:p>
          <a:p>
            <a:pPr algn="just">
              <a:lnSpc>
                <a:spcPts val="46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8132" y="207277"/>
            <a:ext cx="13151736" cy="238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b="true" sz="68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MASS WITHDRAWALS (BANK-RUN EFFECT)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49548" y="2763239"/>
            <a:ext cx="15118301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mass withdrawal event in DeFi closely resembles a </a:t>
            </a: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traditional bank run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but it occurs </a:t>
            </a: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much faster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because there are no human decision-makers—only smart contracts.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98453" y="4988430"/>
            <a:ext cx="14420489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Market crashes, rumors, or loss of trust trigger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panic withdrawals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providers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rush to remove funds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from pools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pools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shrink rapidly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reducing pool depth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Trades fail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or suffer extreme slippage due to thin liquidity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194190"/>
            <a:ext cx="15267680" cy="109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6"/>
              </a:lnSpc>
            </a:pPr>
            <a:r>
              <a:rPr lang="en-US" b="true" sz="63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COLLATERAL LIQUIDATION CASCADE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490210" y="1539324"/>
            <a:ext cx="13847937" cy="5626646"/>
          </a:xfrm>
          <a:custGeom>
            <a:avLst/>
            <a:gdLst/>
            <a:ahLst/>
            <a:cxnLst/>
            <a:rect r="r" b="b" t="t" l="l"/>
            <a:pathLst>
              <a:path h="5626646" w="13847937">
                <a:moveTo>
                  <a:pt x="0" y="0"/>
                </a:moveTo>
                <a:lnTo>
                  <a:pt x="13847937" y="0"/>
                </a:lnTo>
                <a:lnTo>
                  <a:pt x="13847937" y="5626646"/>
                </a:lnTo>
                <a:lnTo>
                  <a:pt x="0" y="5626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316" r="0" b="-1812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5135" y="6716416"/>
            <a:ext cx="17860309" cy="410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6"/>
              </a:lnSpc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DeF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i, users </a:t>
            </a:r>
            <a:r>
              <a:rPr lang="en-US" b="true" sz="3340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take loans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by keeping crypto as collateral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When the price of that </a:t>
            </a:r>
            <a:r>
              <a:rPr lang="en-US" b="true" sz="3340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crypto falls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the collateral value becomes too low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</a:t>
            </a:r>
            <a:r>
              <a:rPr lang="en-US" b="true" sz="3340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system automatically sells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(liquidates) the collateral </a:t>
            </a:r>
            <a:r>
              <a:rPr lang="en-US" b="true" sz="3340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 recover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the loan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These forced sales push prices down even more, causing more liquidations</a:t>
            </a:r>
          </a:p>
          <a:p>
            <a:pPr algn="just">
              <a:lnSpc>
                <a:spcPts val="4676"/>
              </a:lnSpc>
            </a:pPr>
          </a:p>
          <a:p>
            <a:pPr algn="just">
              <a:lnSpc>
                <a:spcPts val="46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8132" y="364847"/>
            <a:ext cx="13151736" cy="360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b="true" sz="68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STABLECOIN DEPEGGING</a:t>
            </a:r>
          </a:p>
          <a:p>
            <a:pPr algn="ctr">
              <a:lnSpc>
                <a:spcPts val="9646"/>
              </a:lnSpc>
            </a:pPr>
          </a:p>
          <a:p>
            <a:pPr algn="ctr">
              <a:lnSpc>
                <a:spcPts val="964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298453" y="2082529"/>
            <a:ext cx="15118301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Stablecoin depegging occurs when a stablecoin </a:t>
            </a: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fails to maintain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its fixed v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(usu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lly 1 coi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= $1), leading to loss o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ust and liquidity in DeFi markets.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647359" y="3540513"/>
            <a:ext cx="14420489" cy="57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DeFi lo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nd poo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using the stablecoin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 collateral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 t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rading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pai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unstable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Users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lose trust and exit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positions to avoid losses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collapse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 a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cross protocols th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rely on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the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stablecoin for pricing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and settlements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Because stablecoins act as the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backbone of DeFi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their depegging triggers system-wide liquidity stress.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8132" y="364847"/>
            <a:ext cx="13151736" cy="360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b="true" sz="68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LUNA-TERA CASE STUDY</a:t>
            </a:r>
          </a:p>
          <a:p>
            <a:pPr algn="ctr">
              <a:lnSpc>
                <a:spcPts val="9646"/>
              </a:lnSpc>
            </a:pPr>
          </a:p>
          <a:p>
            <a:pPr algn="ctr">
              <a:lnSpc>
                <a:spcPts val="964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03934" y="1818130"/>
            <a:ext cx="14420489" cy="798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Terra was a blockchain ecosystem built for decentralized finance (DeFi) and payments. It had two principal cryptocurrencies:</a:t>
            </a:r>
          </a:p>
          <a:p>
            <a:pPr algn="l" marL="699574" indent="-349787" lvl="1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TerraUSD (UST) – an algorithmic stablecoin designed to maintain a $1 USD peg without traditional backing.</a:t>
            </a:r>
          </a:p>
          <a:p>
            <a:pPr algn="l" marL="699574" indent="-349787" lvl="1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LUNA – the companion token used to stabilize UST through a mint-and-burn mechanism:</a:t>
            </a:r>
          </a:p>
          <a:p>
            <a:pPr algn="l" marL="1399149" indent="-466383" lvl="2">
              <a:lnSpc>
                <a:spcPts val="4536"/>
              </a:lnSpc>
              <a:buFont typeface="Arial"/>
              <a:buChar char="⚬"/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 UST &gt; $1, burn LUNA to mint UST.</a:t>
            </a:r>
          </a:p>
          <a:p>
            <a:pPr algn="l" marL="1399149" indent="-466383" lvl="2">
              <a:lnSpc>
                <a:spcPts val="4536"/>
              </a:lnSpc>
              <a:buFont typeface="Arial"/>
              <a:buChar char="⚬"/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 UST &lt; $1, burn UST to mint LUNA.</a:t>
            </a:r>
          </a:p>
          <a:p>
            <a:pPr algn="l" marL="1399149" indent="-466383" lvl="2">
              <a:lnSpc>
                <a:spcPts val="4536"/>
              </a:lnSpc>
              <a:buFont typeface="Arial"/>
              <a:buChar char="⚬"/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This mechanism was meant to maintain stability through on-chain incentives rather than collateral reserves. 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Terra also supported DeFi products like Anchor Protocol, which offered high yields on UST deposits, attracting substantial capital into the ecosystem.</a:t>
            </a: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6746" y="571911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7670" y="2355023"/>
            <a:ext cx="14635331" cy="69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Liquidity crises arise due to panic withdrawals, automatic liquidations, and stablecoin failures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Such crises can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freeze markets quickly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because DeFi systems operate automatically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These risks can be handled through: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Overcollateralization and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conservative lending limits.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Circuit breakers and emergency pause mechanisms.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Reliable stablecoin designs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and reserve transparency.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Better risk management and stress testing of protocols.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2911" y="3518127"/>
            <a:ext cx="12387037" cy="213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1"/>
              </a:lnSpc>
            </a:pPr>
            <a:r>
              <a:rPr lang="en-US" b="true" sz="124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DAHAhqFXeq8</dc:identifier>
  <dcterms:modified xsi:type="dcterms:W3CDTF">2011-08-01T06:04:30Z</dcterms:modified>
  <cp:revision>1</cp:revision>
  <dc:title>Defi_presentation</dc:title>
</cp:coreProperties>
</file>